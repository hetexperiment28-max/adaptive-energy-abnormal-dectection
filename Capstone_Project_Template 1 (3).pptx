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8"/>
  </p:notesMasterIdLst>
  <p:sldIdLst>
    <p:sldId id="1300" r:id="rId5"/>
    <p:sldId id="1349" r:id="rId6"/>
    <p:sldId id="1291" r:id="rId7"/>
    <p:sldId id="1350" r:id="rId8"/>
    <p:sldId id="1359" r:id="rId9"/>
    <p:sldId id="1351" r:id="rId10"/>
    <p:sldId id="1352" r:id="rId11"/>
    <p:sldId id="1353" r:id="rId12"/>
    <p:sldId id="1358" r:id="rId13"/>
    <p:sldId id="1354" r:id="rId14"/>
    <p:sldId id="1355" r:id="rId15"/>
    <p:sldId id="1356" r:id="rId16"/>
    <p:sldId id="1250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FEB"/>
    <a:srgbClr val="213164"/>
    <a:srgbClr val="EDEEFF"/>
    <a:srgbClr val="EDFFC5"/>
    <a:srgbClr val="7FBA00"/>
    <a:srgbClr val="EBEEF9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>
      <p:cViewPr varScale="1">
        <p:scale>
          <a:sx n="93" d="100"/>
          <a:sy n="93" d="100"/>
        </p:scale>
        <p:origin x="432" y="54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A179CAE-07CC-CF00-C33D-03F25CBD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870867A-974C-221D-4D3B-1A6561008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06D7F1C7-E147-233F-2FF1-3F9D47052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789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97757C-C9C8-D062-5A0A-E627466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EFC4385-9F62-DE91-1C49-25EFFAA5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3177FAE6-75CC-FEF9-3CAC-8FE5239D6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90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3204759" y="1782736"/>
            <a:ext cx="846154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Adaptive energy &amp; abnormal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      </a:t>
            </a:r>
            <a:r>
              <a:rPr lang="en-US" sz="4000" b="1" dirty="0" err="1">
                <a:solidFill>
                  <a:schemeClr val="bg1"/>
                </a:solidFill>
              </a:rPr>
              <a:t>Dectection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760259" y="3494967"/>
            <a:ext cx="6347011" cy="2390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Patel Het </a:t>
            </a:r>
            <a:r>
              <a:rPr lang="en-IN" dirty="0" err="1">
                <a:solidFill>
                  <a:schemeClr val="bg1"/>
                </a:solidFill>
              </a:rPr>
              <a:t>Shaileshbhai</a:t>
            </a:r>
            <a:r>
              <a:rPr lang="en-IN" dirty="0">
                <a:solidFill>
                  <a:schemeClr val="bg1"/>
                </a:solidFill>
              </a:rPr>
              <a:t> – 230670132008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		      Mentor Name: Jesal Desai</a:t>
            </a:r>
          </a:p>
          <a:p>
            <a:r>
              <a:rPr lang="en-IN" dirty="0">
                <a:solidFill>
                  <a:schemeClr val="bg1"/>
                </a:solidFill>
              </a:rPr>
              <a:t>			                Rohit </a:t>
            </a:r>
            <a:r>
              <a:rPr lang="en-IN" dirty="0" err="1">
                <a:solidFill>
                  <a:schemeClr val="bg1"/>
                </a:solidFill>
              </a:rPr>
              <a:t>Bhadoauriya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College Name -  </a:t>
            </a:r>
            <a:r>
              <a:rPr lang="en-IN" dirty="0">
                <a:solidFill>
                  <a:srgbClr val="00B050"/>
                </a:solidFill>
                <a:highlight>
                  <a:srgbClr val="F9FFEB"/>
                </a:highlight>
              </a:rPr>
              <a:t>SAL</a:t>
            </a:r>
            <a:r>
              <a:rPr lang="en-IN" dirty="0">
                <a:solidFill>
                  <a:schemeClr val="bg1"/>
                </a:solidFill>
                <a:highlight>
                  <a:srgbClr val="F9FFEB"/>
                </a:highlight>
              </a:rPr>
              <a:t> </a:t>
            </a:r>
            <a:r>
              <a:rPr lang="en-IN" dirty="0">
                <a:solidFill>
                  <a:srgbClr val="213164"/>
                </a:solidFill>
                <a:highlight>
                  <a:srgbClr val="F9FFEB"/>
                </a:highlight>
              </a:rPr>
              <a:t>Education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Problem Statement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Problem Statement</a:t>
            </a:r>
            <a:endParaRPr lang="en-US" sz="18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FA070-6DF9-D488-5906-0370FB84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85" y="1774076"/>
            <a:ext cx="5275270" cy="42825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E8469E-4F49-5F21-2C59-8BE3B8E6DF3F}"/>
              </a:ext>
            </a:extLst>
          </p:cNvPr>
          <p:cNvSpPr txBox="1"/>
          <p:nvPr/>
        </p:nvSpPr>
        <p:spPr>
          <a:xfrm>
            <a:off x="292813" y="1690099"/>
            <a:ext cx="6575461" cy="5180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 Narrow" panose="020B0004020202020204" pitchFamily="34" charset="0"/>
              </a:rPr>
              <a:t>Electricity consumption is increasing every year due to the addition of new electrical appliances and growing dependency on power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ptos Narrow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 Narrow" panose="020B0004020202020204" pitchFamily="34" charset="0"/>
              </a:rPr>
              <a:t>Due to the gradual rise in energy usage, abnormal electricity consumption caused by inefficient usage, system losses, or unauthorized usage often goes unnoticed.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ptos Narrow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 Narrow" panose="020B0004020202020204" pitchFamily="34" charset="0"/>
              </a:rPr>
              <a:t>Traditional monitoring systems only display total consumption and lack intelligent analysis to distinguish normal load growth from abnormal </a:t>
            </a:r>
            <a:r>
              <a:rPr lang="en-GB" sz="2400" dirty="0" err="1">
                <a:latin typeface="Aptos Narrow" panose="020B0004020202020204" pitchFamily="34" charset="0"/>
              </a:rPr>
              <a:t>behavior</a:t>
            </a:r>
            <a:r>
              <a:rPr lang="en-GB" sz="2400" dirty="0">
                <a:latin typeface="Aptos Narrow" panose="020B00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590409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Project Overview - Introduction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A52AF-B32E-E6A1-58D3-4A80D31E51C1}"/>
              </a:ext>
            </a:extLst>
          </p:cNvPr>
          <p:cNvSpPr txBox="1"/>
          <p:nvPr/>
        </p:nvSpPr>
        <p:spPr>
          <a:xfrm>
            <a:off x="297951" y="1618180"/>
            <a:ext cx="6246687" cy="4996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ptos Narrow" panose="020B0004020202020204" pitchFamily="34" charset="0"/>
              </a:rPr>
              <a:t>This project presents a Smart Energy Usage Monitoring and Anomaly Detection System using machine learning.</a:t>
            </a:r>
          </a:p>
          <a:p>
            <a:r>
              <a:rPr lang="en-GB" sz="2000" dirty="0">
                <a:latin typeface="Aptos Narrow" panose="020B0004020202020204" pitchFamily="34" charset="0"/>
              </a:rPr>
              <a:t>The system </a:t>
            </a:r>
            <a:r>
              <a:rPr lang="en-GB" sz="2000" dirty="0" err="1">
                <a:latin typeface="Aptos Narrow" panose="020B0004020202020204" pitchFamily="34" charset="0"/>
              </a:rPr>
              <a:t>analyzes</a:t>
            </a:r>
            <a:r>
              <a:rPr lang="en-GB" sz="2000" dirty="0">
                <a:latin typeface="Aptos Narrow" panose="020B0004020202020204" pitchFamily="34" charset="0"/>
              </a:rPr>
              <a:t> electricity consumption patterns and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detects abnormal </a:t>
            </a:r>
            <a:r>
              <a:rPr lang="en-GB" sz="2000" dirty="0">
                <a:latin typeface="Aptos Narrow" panose="020B0004020202020204" pitchFamily="34" charset="0"/>
              </a:rPr>
              <a:t>usage while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adapting over time </a:t>
            </a:r>
            <a:r>
              <a:rPr lang="en-GB" sz="2000" dirty="0">
                <a:latin typeface="Aptos Narrow" panose="020B0004020202020204" pitchFamily="34" charset="0"/>
              </a:rPr>
              <a:t>to changes in normal </a:t>
            </a:r>
            <a:r>
              <a:rPr lang="en-GB" sz="2000" dirty="0" err="1">
                <a:latin typeface="Aptos Narrow" panose="020B0004020202020204" pitchFamily="34" charset="0"/>
              </a:rPr>
              <a:t>behavior</a:t>
            </a:r>
            <a:r>
              <a:rPr lang="en-GB" sz="2000" dirty="0">
                <a:latin typeface="Aptos Narrow" panose="020B0004020202020204" pitchFamily="34" charset="0"/>
              </a:rPr>
              <a:t>, such as the installation of new appliances.</a:t>
            </a:r>
          </a:p>
          <a:p>
            <a:endParaRPr lang="en-GB" sz="2000" dirty="0">
              <a:latin typeface="Aptos Narrow" panose="020B0004020202020204" pitchFamily="34" charset="0"/>
            </a:endParaRPr>
          </a:p>
          <a:p>
            <a:r>
              <a:rPr lang="en-GB" sz="2000" dirty="0">
                <a:latin typeface="Aptos Narrow" panose="020B0004020202020204" pitchFamily="34" charset="0"/>
              </a:rPr>
              <a:t>The proposed solution is scalable and can be implemented 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Small scale – Households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Medium scale – Offices and Colleges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Large scale – Power distribution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ptos Narrow" panose="020B0004020202020204" pitchFamily="34" charset="0"/>
            </a:endParaRPr>
          </a:p>
          <a:p>
            <a:r>
              <a:rPr lang="en-GB" sz="2000" dirty="0">
                <a:latin typeface="Aptos Narrow" panose="020B0004020202020204" pitchFamily="34" charset="0"/>
              </a:rPr>
              <a:t>The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core ML concept remains the same </a:t>
            </a:r>
            <a:r>
              <a:rPr lang="en-GB" sz="2000" dirty="0">
                <a:latin typeface="Aptos Narrow" panose="020B0004020202020204" pitchFamily="34" charset="0"/>
              </a:rPr>
              <a:t>only data scale and configuration need adjustment.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1BFC8-B344-8B70-6BD8-5A5DFD08E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638" y="1561672"/>
            <a:ext cx="5583576" cy="4380751"/>
          </a:xfrm>
          <a:prstGeom prst="round2DiagRect">
            <a:avLst>
              <a:gd name="adj1" fmla="val 2440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AADC162-DBDC-18F3-09AE-B6947FE4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E0509-44F2-57E4-005A-8B5CCE7BE4C3}"/>
              </a:ext>
            </a:extLst>
          </p:cNvPr>
          <p:cNvSpPr txBox="1"/>
          <p:nvPr/>
        </p:nvSpPr>
        <p:spPr>
          <a:xfrm>
            <a:off x="191909" y="917157"/>
            <a:ext cx="590409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Project Overview - Introduction</a:t>
            </a:r>
            <a:endParaRPr lang="en-US" sz="28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B90098-246E-1E44-A069-C4472AD9A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09" y="1852373"/>
            <a:ext cx="635272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monitor energy consumption continuously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detect abnormal or inefficient electricity usage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reduce false alerts using adaptive learning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provide live visualization of energy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To support scalable deployment from home to grid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7A5764-D448-2186-1236-368F284A0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8" r="6725" b="3264"/>
          <a:stretch>
            <a:fillRect/>
          </a:stretch>
        </p:blipFill>
        <p:spPr>
          <a:xfrm>
            <a:off x="7263829" y="1042823"/>
            <a:ext cx="3770616" cy="54812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581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823562"/>
            <a:ext cx="590409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End Users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B8350-1D15-4266-F1AF-D4137872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928" y="1463750"/>
            <a:ext cx="5270535" cy="4813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9B900-AD78-DBA3-D85E-112CAF904D90}"/>
              </a:ext>
            </a:extLst>
          </p:cNvPr>
          <p:cNvSpPr txBox="1"/>
          <p:nvPr/>
        </p:nvSpPr>
        <p:spPr>
          <a:xfrm>
            <a:off x="202071" y="1372647"/>
            <a:ext cx="6195317" cy="583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 Narrow" panose="020B0004020202020204" pitchFamily="34" charset="0"/>
              </a:rPr>
              <a:t>The proposed system is designed to be scalable and can be implemented at different levels of electricity consumption, from small households to large power distribution systems.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Household Users:</a:t>
            </a:r>
            <a:br>
              <a:rPr lang="en-GB" dirty="0">
                <a:latin typeface="Aptos Narrow" panose="020B0004020202020204" pitchFamily="34" charset="0"/>
              </a:rPr>
            </a:br>
            <a:r>
              <a:rPr lang="en-GB" dirty="0">
                <a:latin typeface="Aptos Narrow" panose="020B0004020202020204" pitchFamily="34" charset="0"/>
              </a:rPr>
              <a:t>To monitor daily electricity usage, detect abnormal consumption, reduce unnecessary energy wastage and bills.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Offices and Commercial Buildings:</a:t>
            </a:r>
            <a:br>
              <a:rPr lang="en-GB" dirty="0">
                <a:latin typeface="Aptos Narrow" panose="020B0004020202020204" pitchFamily="34" charset="0"/>
              </a:rPr>
            </a:br>
            <a:r>
              <a:rPr lang="en-GB" dirty="0">
                <a:latin typeface="Aptos Narrow" panose="020B0004020202020204" pitchFamily="34" charset="0"/>
              </a:rPr>
              <a:t>To </a:t>
            </a:r>
            <a:r>
              <a:rPr lang="en-GB" dirty="0" err="1">
                <a:latin typeface="Aptos Narrow" panose="020B0004020202020204" pitchFamily="34" charset="0"/>
              </a:rPr>
              <a:t>analyze</a:t>
            </a:r>
            <a:r>
              <a:rPr lang="en-GB" dirty="0">
                <a:latin typeface="Aptos Narrow" panose="020B0004020202020204" pitchFamily="34" charset="0"/>
              </a:rPr>
              <a:t> consumption trends, identify unusual load </a:t>
            </a:r>
            <a:r>
              <a:rPr lang="en-GB" dirty="0" err="1">
                <a:latin typeface="Aptos Narrow" panose="020B0004020202020204" pitchFamily="34" charset="0"/>
              </a:rPr>
              <a:t>behavior</a:t>
            </a:r>
            <a:r>
              <a:rPr lang="en-GB" dirty="0">
                <a:latin typeface="Aptos Narrow" panose="020B0004020202020204" pitchFamily="34" charset="0"/>
              </a:rPr>
              <a:t>, and improve overall Efficiency.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Educational Institutions:</a:t>
            </a:r>
            <a:br>
              <a:rPr lang="en-GB" dirty="0">
                <a:latin typeface="Aptos Narrow" panose="020B0004020202020204" pitchFamily="34" charset="0"/>
              </a:rPr>
            </a:br>
            <a:r>
              <a:rPr lang="en-GB" dirty="0">
                <a:latin typeface="Aptos Narrow" panose="020B0004020202020204" pitchFamily="34" charset="0"/>
              </a:rPr>
              <a:t>To monitor large-scale energy usage across campuses and detect inefficient or abnormal patterns.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Power Distribution Authorities:</a:t>
            </a:r>
            <a:br>
              <a:rPr lang="en-GB" dirty="0">
                <a:latin typeface="Aptos Narrow" panose="020B0004020202020204" pitchFamily="34" charset="0"/>
              </a:rPr>
            </a:br>
            <a:r>
              <a:rPr lang="en-GB" dirty="0">
                <a:latin typeface="Aptos Narrow" panose="020B0004020202020204" pitchFamily="34" charset="0"/>
              </a:rPr>
              <a:t>To apply anomaly detection at feeder or grid level for identifying system losses or irregular consumption patterns.</a:t>
            </a:r>
          </a:p>
          <a:p>
            <a:endParaRPr lang="en-GB" dirty="0">
              <a:latin typeface="Aptos Narrow" panose="020B0004020202020204" pitchFamily="34" charset="0"/>
            </a:endParaRP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The same machine learning framework can be applied at all levels, with only minor adjustments in data scale and configuration.</a:t>
            </a:r>
          </a:p>
          <a:p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3885468" y="761917"/>
            <a:ext cx="590409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Wow Factors in Project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6604F4-4E25-7982-C655-B101B693BA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" t="14065" r="-63" b="9872"/>
          <a:stretch>
            <a:fillRect/>
          </a:stretch>
        </p:blipFill>
        <p:spPr>
          <a:xfrm>
            <a:off x="719190" y="1316049"/>
            <a:ext cx="10661151" cy="54315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Modelling/Block Diagram/Flow of Project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CEB0B-B4C1-0A46-0348-A9ED79809E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3" t="35946" r="12866" b="30512"/>
          <a:stretch>
            <a:fillRect/>
          </a:stretch>
        </p:blipFill>
        <p:spPr>
          <a:xfrm>
            <a:off x="435175" y="2250632"/>
            <a:ext cx="11321649" cy="302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D92D-A575-8307-4352-F0BA81EB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F50A4-5ED8-3FB1-7BC6-C928C539FDC4}"/>
              </a:ext>
            </a:extLst>
          </p:cNvPr>
          <p:cNvSpPr txBox="1"/>
          <p:nvPr/>
        </p:nvSpPr>
        <p:spPr>
          <a:xfrm>
            <a:off x="202071" y="982811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B7D67-F344-766F-56D5-BC2FC600A251}"/>
              </a:ext>
            </a:extLst>
          </p:cNvPr>
          <p:cNvSpPr txBox="1"/>
          <p:nvPr/>
        </p:nvSpPr>
        <p:spPr>
          <a:xfrm>
            <a:off x="246992" y="1508234"/>
            <a:ext cx="109307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Aptos Narrow" panose="020B0004020202020204" pitchFamily="34" charset="0"/>
              </a:rPr>
              <a:t>The proposed system integrates hardware, software, data processing, and visualization technologies to enable real-time adaptive energy monitoring.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🔹 Hardware Layer</a:t>
            </a:r>
          </a:p>
          <a:p>
            <a:r>
              <a:rPr lang="en-IN" sz="1800" dirty="0">
                <a:latin typeface="Aptos Narrow" panose="020B0004020202020204" pitchFamily="34" charset="0"/>
              </a:rPr>
              <a:t>ESP8266 (</a:t>
            </a:r>
            <a:r>
              <a:rPr lang="en-IN" sz="1800" dirty="0" err="1">
                <a:latin typeface="Aptos Narrow" panose="020B0004020202020204" pitchFamily="34" charset="0"/>
              </a:rPr>
              <a:t>NodeMCU</a:t>
            </a:r>
            <a:r>
              <a:rPr lang="en-IN" sz="1800" dirty="0">
                <a:latin typeface="Aptos Narrow" panose="020B0004020202020204" pitchFamily="34" charset="0"/>
              </a:rPr>
              <a:t>) – Data acquisition</a:t>
            </a:r>
          </a:p>
          <a:p>
            <a:r>
              <a:rPr lang="en-IN" sz="1800" dirty="0">
                <a:latin typeface="Aptos Narrow" panose="020B0004020202020204" pitchFamily="34" charset="0"/>
              </a:rPr>
              <a:t>Wattage meter module  - extract consumption data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🔹 Communication Layer</a:t>
            </a:r>
          </a:p>
          <a:p>
            <a:r>
              <a:rPr lang="en-IN" sz="1800" dirty="0">
                <a:latin typeface="Aptos Narrow" panose="020B0004020202020204" pitchFamily="34" charset="0"/>
              </a:rPr>
              <a:t>Serial Communication (USB) – Real-time data transfer from ESP to Python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🔹 Programming &amp; Processing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Python</a:t>
            </a:r>
            <a:r>
              <a:rPr lang="en-IN" sz="1800" dirty="0">
                <a:latin typeface="Aptos Narrow" panose="020B0004020202020204" pitchFamily="34" charset="0"/>
              </a:rPr>
              <a:t> – Core application logic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Pandas</a:t>
            </a:r>
            <a:r>
              <a:rPr lang="en-IN" sz="1800" dirty="0">
                <a:latin typeface="Aptos Narrow" panose="020B0004020202020204" pitchFamily="34" charset="0"/>
              </a:rPr>
              <a:t> – Data handling and aggregation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CSV Module</a:t>
            </a:r>
            <a:r>
              <a:rPr lang="en-IN" sz="1800" dirty="0">
                <a:latin typeface="Aptos Narrow" panose="020B0004020202020204" pitchFamily="34" charset="0"/>
              </a:rPr>
              <a:t> – Data storage</a:t>
            </a:r>
          </a:p>
          <a:p>
            <a:r>
              <a:rPr lang="en-IN" sz="1800" b="1" dirty="0" err="1">
                <a:latin typeface="Aptos Narrow" panose="020B0004020202020204" pitchFamily="34" charset="0"/>
              </a:rPr>
              <a:t>PySerial</a:t>
            </a:r>
            <a:r>
              <a:rPr lang="en-IN" sz="1800" dirty="0">
                <a:latin typeface="Aptos Narrow" panose="020B0004020202020204" pitchFamily="34" charset="0"/>
              </a:rPr>
              <a:t> – Serial data reading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🔹 Data </a:t>
            </a:r>
            <a:r>
              <a:rPr lang="en-IN" sz="1800" b="1" dirty="0" err="1">
                <a:latin typeface="Aptos Narrow" panose="020B0004020202020204" pitchFamily="34" charset="0"/>
              </a:rPr>
              <a:t>Modeling</a:t>
            </a:r>
            <a:r>
              <a:rPr lang="en-IN" sz="1800" b="1" dirty="0">
                <a:latin typeface="Aptos Narrow" panose="020B0004020202020204" pitchFamily="34" charset="0"/>
              </a:rPr>
              <a:t> &amp; Analysis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Rolling Window Statistical Model</a:t>
            </a:r>
            <a:r>
              <a:rPr lang="en-IN" sz="1800" dirty="0">
                <a:latin typeface="Aptos Narrow" panose="020B0004020202020204" pitchFamily="34" charset="0"/>
              </a:rPr>
              <a:t> – Adaptive baseline calculation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Dynamic Threshold Algorithm</a:t>
            </a:r>
            <a:r>
              <a:rPr lang="en-IN" sz="1800" dirty="0">
                <a:latin typeface="Aptos Narrow" panose="020B0004020202020204" pitchFamily="34" charset="0"/>
              </a:rPr>
              <a:t> – Anomaly detection logic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🔹 Visualization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Matplotlib</a:t>
            </a:r>
            <a:r>
              <a:rPr lang="en-IN" sz="1800" dirty="0">
                <a:latin typeface="Aptos Narrow" panose="020B0004020202020204" pitchFamily="34" charset="0"/>
              </a:rPr>
              <a:t> – Real-time line and bar graphs</a:t>
            </a:r>
          </a:p>
          <a:p>
            <a:r>
              <a:rPr lang="en-IN" sz="1800" b="1" dirty="0">
                <a:latin typeface="Aptos Narrow" panose="020B0004020202020204" pitchFamily="34" charset="0"/>
              </a:rPr>
              <a:t>Interactive Plotting (</a:t>
            </a:r>
            <a:r>
              <a:rPr lang="en-IN" sz="1800" b="1" dirty="0" err="1">
                <a:latin typeface="Aptos Narrow" panose="020B0004020202020204" pitchFamily="34" charset="0"/>
              </a:rPr>
              <a:t>plt.ion</a:t>
            </a:r>
            <a:r>
              <a:rPr lang="en-IN" sz="1800" b="1" dirty="0">
                <a:latin typeface="Aptos Narrow" panose="020B0004020202020204" pitchFamily="34" charset="0"/>
              </a:rPr>
              <a:t>)</a:t>
            </a:r>
            <a:r>
              <a:rPr lang="en-IN" sz="1800" dirty="0">
                <a:latin typeface="Aptos Narrow" panose="020B0004020202020204" pitchFamily="34" charset="0"/>
              </a:rPr>
              <a:t> – Live dashboard </a:t>
            </a:r>
            <a:r>
              <a:rPr lang="en-IN" sz="1800" dirty="0" err="1">
                <a:latin typeface="Aptos Narrow" panose="020B0004020202020204" pitchFamily="34" charset="0"/>
              </a:rPr>
              <a:t>behavior</a:t>
            </a:r>
            <a:endParaRPr lang="en-IN" sz="1800" dirty="0"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680E3-4CCD-A833-1E0B-FA0639F2C5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70" r="12644" b="33333"/>
          <a:stretch>
            <a:fillRect/>
          </a:stretch>
        </p:blipFill>
        <p:spPr>
          <a:xfrm>
            <a:off x="7499132" y="1761390"/>
            <a:ext cx="354724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66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Result/Outcomes: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D067E-20A5-4A98-FCA9-0D71581CE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1672"/>
            <a:ext cx="5111393" cy="4972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EA3E3B-986D-0A3D-2EC8-8B48DCD3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957" y="1561672"/>
            <a:ext cx="6695277" cy="4972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202071" y="972537"/>
            <a:ext cx="590409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Conclusion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797AE-3B65-FCC9-BA4C-F6106D68FD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15"/>
          <a:stretch>
            <a:fillRect/>
          </a:stretch>
        </p:blipFill>
        <p:spPr>
          <a:xfrm>
            <a:off x="7218302" y="1172592"/>
            <a:ext cx="4371125" cy="5255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D232A6-39D8-C8A5-CDE3-8C10304C73E2}"/>
              </a:ext>
            </a:extLst>
          </p:cNvPr>
          <p:cNvSpPr txBox="1"/>
          <p:nvPr/>
        </p:nvSpPr>
        <p:spPr>
          <a:xfrm>
            <a:off x="237012" y="1672095"/>
            <a:ext cx="6981290" cy="530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The proposed Smart Energy Usage Monitoring and Adaptive Anomaly Detection System successfully demonstrates how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machine learning can be applied </a:t>
            </a:r>
            <a:r>
              <a:rPr lang="en-GB" sz="2000" dirty="0">
                <a:latin typeface="Aptos Narrow" panose="020B0004020202020204" pitchFamily="34" charset="0"/>
              </a:rPr>
              <a:t>to intelligently </a:t>
            </a:r>
            <a:r>
              <a:rPr lang="en-GB" sz="2000" dirty="0" err="1">
                <a:latin typeface="Aptos Narrow" panose="020B0004020202020204" pitchFamily="34" charset="0"/>
              </a:rPr>
              <a:t>analyze</a:t>
            </a:r>
            <a:r>
              <a:rPr lang="en-GB" sz="2000" dirty="0">
                <a:latin typeface="Aptos Narrow" panose="020B0004020202020204" pitchFamily="34" charset="0"/>
              </a:rPr>
              <a:t> electricity consumption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ptos Narrow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Unlike traditional systems that rely on fixed thresholds, the proposed model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adapts to changing energy usage</a:t>
            </a:r>
            <a:r>
              <a:rPr lang="en-GB" sz="2000" dirty="0">
                <a:latin typeface="Aptos Narrow" panose="020B0004020202020204" pitchFamily="34" charset="0"/>
              </a:rPr>
              <a:t> </a:t>
            </a:r>
            <a:r>
              <a:rPr lang="en-GB" sz="2000" dirty="0" err="1">
                <a:latin typeface="Aptos Narrow" panose="020B0004020202020204" pitchFamily="34" charset="0"/>
              </a:rPr>
              <a:t>behavior</a:t>
            </a:r>
            <a:r>
              <a:rPr lang="en-GB" sz="2000" dirty="0">
                <a:latin typeface="Aptos Narrow" panose="020B0004020202020204" pitchFamily="34" charset="0"/>
              </a:rPr>
              <a:t>, reducing false alerts while maintaining accurate abnormality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ptos Narrow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 Narrow" panose="020B0004020202020204" pitchFamily="34" charset="0"/>
              </a:rPr>
              <a:t>The system is scalable, flexible, and suitable for deployment at household, institutional, and grid levels. By integrating real-time data visualization with adaptive anomaly detection.</a:t>
            </a:r>
          </a:p>
          <a:p>
            <a:endParaRPr lang="en-GB" sz="2000" dirty="0">
              <a:latin typeface="Aptos Narrow" panose="020B0004020202020204" pitchFamily="34" charset="0"/>
            </a:endParaRPr>
          </a:p>
          <a:p>
            <a:r>
              <a:rPr lang="en-GB" sz="2000" dirty="0">
                <a:latin typeface="Aptos Narrow" panose="020B0004020202020204" pitchFamily="34" charset="0"/>
              </a:rPr>
              <a:t>The project contributes toward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efficient energy </a:t>
            </a:r>
            <a:r>
              <a:rPr lang="en-GB" sz="2000" dirty="0">
                <a:latin typeface="Aptos Narrow" panose="020B0004020202020204" pitchFamily="34" charset="0"/>
              </a:rPr>
              <a:t>management and 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Aptos Narrow" panose="020B0004020202020204" pitchFamily="34" charset="0"/>
              </a:rPr>
              <a:t>sustainable power usage</a:t>
            </a:r>
            <a:r>
              <a:rPr lang="en-GB" sz="2000" dirty="0">
                <a:latin typeface="Aptos Narrow" panose="020B00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FC0FE-5D52-7C00-8E92-7A5B880A07CC}"/>
              </a:ext>
            </a:extLst>
          </p:cNvPr>
          <p:cNvSpPr txBox="1"/>
          <p:nvPr/>
        </p:nvSpPr>
        <p:spPr>
          <a:xfrm>
            <a:off x="313362" y="1602769"/>
            <a:ext cx="11702265" cy="5551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 Narrow" panose="020B0004020202020204" pitchFamily="34" charset="0"/>
              </a:rPr>
              <a:t>The proposed energy monitoring system can be further enhanced and expanded to support real-world smart energy management applications.</a:t>
            </a:r>
          </a:p>
          <a:p>
            <a:endParaRPr lang="en-GB" dirty="0">
              <a:latin typeface="Aptos Narrow" panose="020B0004020202020204" pitchFamily="34" charset="0"/>
            </a:endParaRPr>
          </a:p>
          <a:p>
            <a:r>
              <a:rPr lang="en-GB" b="1" dirty="0">
                <a:latin typeface="Aptos Narrow" panose="020B0004020202020204" pitchFamily="34" charset="0"/>
              </a:rPr>
              <a:t>🔹 Integration with Real Energy Meters</a:t>
            </a:r>
          </a:p>
          <a:p>
            <a:r>
              <a:rPr lang="en-GB" dirty="0">
                <a:latin typeface="Aptos Narrow" panose="020B0004020202020204" pitchFamily="34" charset="0"/>
              </a:rPr>
              <a:t>The system can be connected to actual smart energy meters instead of a simulated load to enable real household or industrial deployment.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🔹 Cloud-Based Monitoring</a:t>
            </a:r>
          </a:p>
          <a:p>
            <a:r>
              <a:rPr lang="en-GB" dirty="0">
                <a:latin typeface="Aptos Narrow" panose="020B0004020202020204" pitchFamily="34" charset="0"/>
              </a:rPr>
              <a:t>Energy data can be stored and </a:t>
            </a:r>
            <a:r>
              <a:rPr lang="en-GB" dirty="0" err="1">
                <a:latin typeface="Aptos Narrow" panose="020B0004020202020204" pitchFamily="34" charset="0"/>
              </a:rPr>
              <a:t>analyzed</a:t>
            </a:r>
            <a:r>
              <a:rPr lang="en-GB" dirty="0">
                <a:latin typeface="Aptos Narrow" panose="020B0004020202020204" pitchFamily="34" charset="0"/>
              </a:rPr>
              <a:t> on cloud platforms for remote monitoring and large-scale data analytics.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🔹 Advanced Machine Learning Models</a:t>
            </a:r>
          </a:p>
          <a:p>
            <a:r>
              <a:rPr lang="en-GB" dirty="0">
                <a:latin typeface="Aptos Narrow" panose="020B0004020202020204" pitchFamily="34" charset="0"/>
              </a:rPr>
              <a:t>More sophisticated ML models such as Isolation Forest, LSTM, or time-series forecasting can be integrated to improve anomaly detection accuracy.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🔹 Mobile and Web Dashboard</a:t>
            </a:r>
          </a:p>
          <a:p>
            <a:r>
              <a:rPr lang="en-GB" dirty="0">
                <a:latin typeface="Aptos Narrow" panose="020B0004020202020204" pitchFamily="34" charset="0"/>
              </a:rPr>
              <a:t>A user-friendly web or mobile dashboard can be developed for live monitoring, alerts, and historical trend analysis.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🔹 Smart Grid Integration</a:t>
            </a:r>
          </a:p>
          <a:p>
            <a:r>
              <a:rPr lang="en-GB" dirty="0">
                <a:latin typeface="Aptos Narrow" panose="020B0004020202020204" pitchFamily="34" charset="0"/>
              </a:rPr>
              <a:t>The system can be extended to feeder-level or grid-level monitoring to support utility companies in detecting system losses and abnormal power consumption.</a:t>
            </a:r>
          </a:p>
          <a:p>
            <a:r>
              <a:rPr lang="en-GB" b="1" dirty="0">
                <a:latin typeface="Aptos Narrow" panose="020B0004020202020204" pitchFamily="34" charset="0"/>
              </a:rPr>
              <a:t>🔹 Energy Efficiency Optimization</a:t>
            </a:r>
          </a:p>
          <a:p>
            <a:r>
              <a:rPr lang="en-GB" dirty="0">
                <a:latin typeface="Aptos Narrow" panose="020B0004020202020204" pitchFamily="34" charset="0"/>
              </a:rPr>
              <a:t>Future versions can provide optimization suggestions, load scheduling, and energy-saving recommendations.</a:t>
            </a:r>
          </a:p>
          <a:p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801</Words>
  <Application>Microsoft Office PowerPoint</Application>
  <PresentationFormat>Widescreen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Narrow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het patel</cp:lastModifiedBy>
  <cp:revision>11</cp:revision>
  <dcterms:modified xsi:type="dcterms:W3CDTF">2026-02-12T06:21:24Z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